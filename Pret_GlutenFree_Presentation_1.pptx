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Gluten-Free Products</c:v>
                </c:pt>
              </c:strCache>
            </c:strRef>
          </c:tx>
          <c:spPr>
            <a:solidFill>
              <a:srgbClr val="B85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Chips &amp; Fries</c:v>
                  </c:pt>
                  <c:pt idx="1">
                    <c:v>Biscuits &amp; Cakes</c:v>
                  </c:pt>
                  <c:pt idx="2">
                    <c:v>Appetizers</c:v>
                  </c:pt>
                  <c:pt idx="3">
                    <c:v>Confectioneries</c:v>
                  </c:pt>
                  <c:pt idx="4">
                    <c:v>Salty Snacks</c:v>
                  </c:pt>
                  <c:pt idx="5">
                    <c:v>Cereals &amp; Potatoes</c:v>
                  </c:pt>
                  <c:pt idx="6">
                    <c:v>Plant-Based Foods</c:v>
                  </c:pt>
                  <c:pt idx="7">
                    <c:v>Plant-Based Bev.</c:v>
                  </c:pt>
                  <c:pt idx="8">
                    <c:v>Sweet Snacks</c:v>
                  </c:pt>
                  <c:pt idx="9">
                    <c:v>Snacks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4104</c:v>
                </c:pt>
                <c:pt idx="1">
                  <c:v>4128</c:v>
                </c:pt>
                <c:pt idx="2">
                  <c:v>5369</c:v>
                </c:pt>
                <c:pt idx="3">
                  <c:v>5771</c:v>
                </c:pt>
                <c:pt idx="4">
                  <c:v>6062</c:v>
                </c:pt>
                <c:pt idx="5">
                  <c:v>6242</c:v>
                </c:pt>
                <c:pt idx="6">
                  <c:v>7772</c:v>
                </c:pt>
                <c:pt idx="7">
                  <c:v>7875</c:v>
                </c:pt>
                <c:pt idx="8">
                  <c:v>15575</c:v>
                </c:pt>
                <c:pt idx="9">
                  <c:v>24398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6E8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Fish</c:v>
                  </c:pt>
                  <c:pt idx="1">
                    <c:v>Sulphites</c:v>
                  </c:pt>
                  <c:pt idx="2">
                    <c:v>Mustard</c:v>
                  </c:pt>
                  <c:pt idx="3">
                    <c:v>Sesame Seeds</c:v>
                  </c:pt>
                  <c:pt idx="4">
                    <c:v>Peanuts</c:v>
                  </c:pt>
                  <c:pt idx="5">
                    <c:v>Nuts</c:v>
                  </c:pt>
                  <c:pt idx="6">
                    <c:v>Eggs</c:v>
                  </c:pt>
                  <c:pt idx="7">
                    <c:v>Soybeans</c:v>
                  </c:pt>
                  <c:pt idx="8">
                    <c:v>Milk</c:v>
                  </c:pt>
                  <c:pt idx="9">
                    <c:v>Gluten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3014</c:v>
                </c:pt>
                <c:pt idx="1">
                  <c:v>3921</c:v>
                </c:pt>
                <c:pt idx="2">
                  <c:v>4832</c:v>
                </c:pt>
                <c:pt idx="3">
                  <c:v>5529</c:v>
                </c:pt>
                <c:pt idx="4">
                  <c:v>8491</c:v>
                </c:pt>
                <c:pt idx="5">
                  <c:v>22657</c:v>
                </c:pt>
                <c:pt idx="6">
                  <c:v>28115</c:v>
                </c:pt>
                <c:pt idx="7">
                  <c:v>36421</c:v>
                </c:pt>
                <c:pt idx="8">
                  <c:v>69322</c:v>
                </c:pt>
                <c:pt idx="9">
                  <c:v>69913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5F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5F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rgbClr val="8C3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</c:v>
                  </c:pt>
                  <c:pt idx="1">
                    <c:v>D</c:v>
                  </c:pt>
                  <c:pt idx="2">
                    <c:v>C</c:v>
                  </c:pt>
                  <c:pt idx="3">
                    <c:v>B</c:v>
                  </c:pt>
                  <c:pt idx="4">
                    <c:v>A</c:v>
                  </c:pt>
                  <c:pt idx="5">
                    <c:v>N/A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31250</c:v>
                </c:pt>
                <c:pt idx="1">
                  <c:v>17366</c:v>
                </c:pt>
                <c:pt idx="2">
                  <c:v>10727</c:v>
                </c:pt>
                <c:pt idx="3">
                  <c:v>2629</c:v>
                </c:pt>
                <c:pt idx="4">
                  <c:v>2612</c:v>
                </c:pt>
                <c:pt idx="5">
                  <c:v>382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Gluten-Free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</c:v>
                  </c:pt>
                  <c:pt idx="1">
                    <c:v>D</c:v>
                  </c:pt>
                  <c:pt idx="2">
                    <c:v>C</c:v>
                  </c:pt>
                  <c:pt idx="3">
                    <c:v>B</c:v>
                  </c:pt>
                  <c:pt idx="4">
                    <c:v>A</c:v>
                  </c:pt>
                  <c:pt idx="5">
                    <c:v>N/A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9849</c:v>
                </c:pt>
                <c:pt idx="1">
                  <c:v>8804</c:v>
                </c:pt>
                <c:pt idx="2">
                  <c:v>4715</c:v>
                </c:pt>
                <c:pt idx="3">
                  <c:v>1285</c:v>
                </c:pt>
                <c:pt idx="4">
                  <c:v>1149</c:v>
                </c:pt>
                <c:pt idx="5">
                  <c:v>1407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5F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B5F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yourself and frame this as a proof-of-concept exercise: one afternoon's focused data engineering work turned into an end-to-end pipeline, not a comprehensive production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why this matters before diving into technical work. Emphasize this is one of several possible focus areas from the brief — explain briefly why gluten-free was chosen: broad relevance, strong labelling signal in OFF, and direct tie to product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four-stage pipeline at a high level before going deeper on each. This is the roadmap for the next few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raw data source and why full-schema ingestion was avoided. Mention the SnowSQL CLI + PUT/COPY INTO workflow and the key-pair auth decision as a production best-practice touch. Give the load numbers as evidence the pipeline is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RAW/STAGING/MART layering — this is standard modern data-warehouse practice and worth naming explicitly. Mention QUALIFY/ROW_NUMBER dedup logic and TRY_CAST defensive typing as evidence of production-quality SQL, not just a quick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judgment, not just execution — be ready to defend each trade-off if asked. Especially flag the flat-file vs live-connection point honestly: it was a pragmatic call after real connector/MFA issues, and a live connection is what you'd do given more time or a production Snowflake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live KPI numbers first — 424K products scoped, 30K identified gluten-free, 7.2% share. Then walk the category chart: snacks lead, bakery categories lag — tie this directly to Pret's own bakery-heavy range as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charts here: allergen frequency validates the labelling data is sensible (gluten/milk dominate as expected). Nutriscore chart is the more strategic point: gluten-free products are not nutritionally worse — useful reassurance for a health-and-sustainability-conscious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technical narrative with clear, honest next steps — shows awareness of what a production version would need beyond this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Be ready to discuss: why gluten-free was chosen, the MFA/connector troubleshooting journey (framed as a real-world data engineering experience), and how you'd productionize this given more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C3B2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6E8F7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9857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A MANGER  —  DATA ENGINEERING PROOF OF CONCEPT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Gluten-Free Opportunity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Open Food Facts into an actionable signal for Pret's product &amp; sourcing decisions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pPr indent="0" marL="0">
              <a:buNone/>
            </a:pPr>
            <a:r>
              <a:rPr lang="en-US" sz="13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  |   </a:t>
            </a:r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pPr indent="0" marL="0">
              <a:buNone/>
            </a:pPr>
            <a:r>
              <a:rPr lang="en-US" sz="13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Pret's food team wants to broaden its gluten-free range — but needs evidence on where gaps and opportunities exist before committing sourcing effort.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1E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685800" cy="68580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8163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Visibility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see which product categories already have strong gluten-free alternatives — and which lag behind.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1E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651760"/>
            <a:ext cx="685800" cy="68580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8163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Demand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requirements are a growing purchase driver; competitors are expanding allergen-friendly ranges.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3317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1E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651760"/>
            <a:ext cx="685800" cy="68580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81635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Untested Data Source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6676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could inform sourcing and labelling — but its value for Pret has never been proven.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2E211A"/>
          </a:solidFill>
          <a:ln/>
        </p:spPr>
      </p:sp>
      <p:sp>
        <p:nvSpPr>
          <p:cNvPr id="21" name="Text 16"/>
          <p:cNvSpPr/>
          <p:nvPr/>
        </p:nvSpPr>
        <p:spPr>
          <a:xfrm>
            <a:off x="960120" y="53492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chosen: </a:t>
            </a:r>
            <a:pPr indent="0" marL="0">
              <a:buNone/>
            </a:pPr>
            <a:r>
              <a:rPr lang="en-US" sz="13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Gluten-free &amp; dietary alternatives — chosen for direct relevance to Pret's product range and strong signal quality in the source data.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From Raw Data to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7F1EA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920240"/>
            <a:ext cx="822960" cy="82296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41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Extract &amp; Ingest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full export loaded into Snowflake via internal stage + COPY INTO.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72968" y="3383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3F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10712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1920240"/>
            <a:ext cx="822960" cy="822960"/>
          </a:xfrm>
          <a:prstGeom prst="ellipse">
            <a:avLst/>
          </a:prstGeom>
          <a:solidFill>
            <a:srgbClr val="6E8F7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42" y="211775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Scope &amp; Clean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42900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Pret-relevant categories; typed, deduplicated, and flagged gluten-free status in SQL.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0" y="3383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3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181344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7F1EA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7164" y="1920240"/>
            <a:ext cx="822960" cy="82296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674" y="211775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Model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9944" y="342900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RAW → STAGING → MART schema; dimensional model built for analyst use.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714232" y="3383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3F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51976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97796" y="1920240"/>
            <a:ext cx="822960" cy="822960"/>
          </a:xfrm>
          <a:prstGeom prst="ellipse">
            <a:avLst/>
          </a:prstGeom>
          <a:solidFill>
            <a:srgbClr val="6E8F7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5306" y="211775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34856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Visualize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80576" y="342900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surfacing category, allergen, and nutrition insights for the food team.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choices: Snowflake (warehouse) + Power BI (visualization) — selected for accessibility and alignment with Pret's likely stack.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&amp; Ingestion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 Food Facts full CSV export (tab-delimited, ~4.5M products, 200+ columns).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~18 columns relevant to the gluten-free use case — avoided loading the full schema.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Snowflake via internal stage + PUT (SnowSQL CLI) and COPY INTO with positional column mapping.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using RSA key-pair auth — the production-appropriate method for tool/service connections, avoiding interactive MFA.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223760" y="141732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8C3B2E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1527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4.53M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49808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successfully loaded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23760" y="2907792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8C3B2E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3017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437,770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498080" y="3685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scoped to Pret-relevant categories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23760" y="4398264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8C3B2E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45079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99.997%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498080" y="5175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success rate (153 rows skipped)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Modeling: A Layered, Analyst-Ready Schema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6E8F7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647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Source-fidelity copy of scoped OFF export. No transformation — always re-derivable.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86784" y="230886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3B2E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B850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7647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trimmed, deduplicated. Gluten-free flag derived from labels &amp; allergens.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44384" y="2308860"/>
            <a:ext cx="301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3B2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D9A4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17647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83880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DIM_PRODUCT, DIM_CATEGORY, bridge tables, FACT_NUTRITION.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tables normalize OFF's comma-separated tags (categories, allergens, labels) into queryable rows.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layer is what Power BI connects to — clean, deduplicated, ready for self-service analysis.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preserved separately so the pipeline can be re-run without re-extracting from source.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3886200"/>
            <a:ext cx="640080" cy="640080"/>
          </a:xfrm>
          <a:prstGeom prst="ellipse">
            <a:avLst/>
          </a:prstGeom>
          <a:solidFill>
            <a:srgbClr val="F7F1E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339" y="4039819"/>
            <a:ext cx="332842" cy="33284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537960" y="4663440"/>
            <a:ext cx="4983480" cy="1737360"/>
          </a:xfrm>
          <a:prstGeom prst="roundRect">
            <a:avLst>
              <a:gd name="adj" fmla="val 5263"/>
            </a:avLst>
          </a:prstGeom>
          <a:solidFill>
            <a:srgbClr val="F7F1E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SQL techniques used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66560" y="512064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TRY_CAST for defensive numeric typing  •  QUALIFY + ROW_NUMBER() for deduplication  •  LATERAL SPLIT_TO_TABLE for tag normalization  •  Pre-aggregated summary tables to keep BI-layer data lightweight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211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828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47472"/>
            <a:ext cx="356616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Decisions Under Time Constraints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600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filter, not full dataset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Pret-relevant categories (bread, snacks, bakery, etc.) rather than loading all 4.5M products — kept the pipeline fast and focused for a POC.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600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vs. FALSE for gluten status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92240" y="214884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gluten-free label was treated as “unknown,” not “contains gluten.” This avoids overstating confidence — but roughly 75% of products with a known Nutriscore grade have no explicit gluten label at all.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977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160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Flat-file BI connection, not live query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470916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to CSV/Excel exports of pre-aggregated MART tables rather than a live Snowflake connection, after MFA/connector issues on the trial account. A live connection is the recommended production setup.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3977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4160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Single-pass dedup logic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92240" y="470916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product codes (12 found) were resolved by keeping the most ‘complete’ row — simple and defensible for a POC, not a full survivorship model.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Insight: Where Gluten-Free Stands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E21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424K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 in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E21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4813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30,389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Gluten-free products identified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2E211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4813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7532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scoped range that is gluten-free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Gluten-Free Product Count by Category (top 10 by volume — live Snowflake MART data)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3154680"/>
          <a:ext cx="7452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8321040" y="274320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F7F1E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9640" y="2971800"/>
            <a:ext cx="548640" cy="54864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314" y="3103474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496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549640" y="406908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lead by raw volume (24,398 products). But smaller categories over-index on share: chips &amp; fries (19.2%) and appetizers (14.7%) are far more gluten-free by proportion than biscuits &amp; cakes (4.1%) — a clear whitespace signal.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Insight: Allergens &amp; Nutritional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Presence Across Products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5120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Nutriscore: Gluten-Free vs. Standard Products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(products with a confirmed gluten-free label, by Nutriscore grade)</a:t>
            </a:r>
            <a:endParaRPr lang="en-US" sz="10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26480" y="1965960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598932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7F1EA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5989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Gluten (69,913) and milk (69,322) dominate allergen presence — expected, and confirms the labelling data is trustworthy. Among products with a confirmed status, gluten-free items make up a larger share of grades A–C than of grade E — quality needn’t be sacrificed to expand the range.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Development &amp; Next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8C3B2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719072"/>
            <a:ext cx="594360" cy="59436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1861718"/>
            <a:ext cx="309067" cy="3090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1737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Snowflake connection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24231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Power BI to a direct Snowflake connection (key-pair auth) once account/tenant configuration allows — removes manual export steps.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46304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8C3B2E"/>
          </a:solidFill>
          <a:ln/>
        </p:spPr>
      </p:sp>
      <p:sp>
        <p:nvSpPr>
          <p:cNvPr id="11" name="Shape 7"/>
          <p:cNvSpPr/>
          <p:nvPr/>
        </p:nvSpPr>
        <p:spPr>
          <a:xfrm>
            <a:off x="6492240" y="1719072"/>
            <a:ext cx="594360" cy="59436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1861718"/>
            <a:ext cx="309067" cy="3090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737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loading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92240" y="24231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OFF's daily delta files instead of full reloads; orchestrate with a scheduler (e.g. Airflow) or dbt for transformation.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02336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8C3B2E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4422038"/>
            <a:ext cx="309067" cy="3090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layer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14400" y="498348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 (e.g. dbt tests) for null rates, duplicate keys, and category coverage — formalize the checks done manually today.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7920" y="402336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8C3B2E"/>
          </a:solidFill>
          <a:ln/>
        </p:spPr>
      </p:sp>
      <p:sp>
        <p:nvSpPr>
          <p:cNvPr id="21" name="Shape 15"/>
          <p:cNvSpPr/>
          <p:nvPr/>
        </p:nvSpPr>
        <p:spPr>
          <a:xfrm>
            <a:off x="6492240" y="4279392"/>
            <a:ext cx="594360" cy="59436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886" y="4422038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scope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492240" y="498348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gluten-free to other focus areas from the brief — allergens, sourcing/trade risk, nutrition — reusing this same pipeline pattern.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8C3B2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6E8F7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554480"/>
            <a:ext cx="1005840" cy="1005840"/>
          </a:xfrm>
          <a:prstGeom prst="ellipse">
            <a:avLst/>
          </a:prstGeom>
          <a:solidFill>
            <a:srgbClr val="B850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7958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SQL scripts  •  Power BI dashboard  •  This presentation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Pret Gluten-Free Opportunity Analysis</dc:title>
  <dc:subject>PptxGenJS Presentation</dc:subject>
  <dc:creator>Data Engineering Candidate</dc:creator>
  <cp:lastModifiedBy>Data Engineering Candidate</cp:lastModifiedBy>
  <cp:revision>1</cp:revision>
  <dcterms:created xsi:type="dcterms:W3CDTF">2026-07-07T11:27:51Z</dcterms:created>
  <dcterms:modified xsi:type="dcterms:W3CDTF">2026-07-07T11:27:51Z</dcterms:modified>
</cp:coreProperties>
</file>